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457200"/>
            <a:ext cx="2199588" cy="640080"/>
          </a:xfrm>
          <a:prstGeom prst="rect">
            <a:avLst/>
          </a:prstGeom>
        </p:spPr>
      </p:pic>
      <p:sp>
        <p:nvSpPr>
          <p:cNvPr id="3" name="TextBox 2"/>
          <p:cNvSpPr txBox="1"/>
          <p:nvPr/>
        </p:nvSpPr>
        <p:spPr>
          <a:xfrm>
            <a:off x="731520" y="2377440"/>
            <a:ext cx="10728655" cy="1645920"/>
          </a:xfrm>
          <a:prstGeom prst="rect">
            <a:avLst/>
          </a:prstGeom>
          <a:noFill/>
        </p:spPr>
        <p:txBody>
          <a:bodyPr wrap="square">
            <a:spAutoFit/>
          </a:bodyPr>
          <a:lstStyle/>
          <a:p>
            <a:pPr algn="l">
              <a:defRPr sz="4000" b="1">
                <a:solidFill>
                  <a:srgbClr val="BF0000"/>
                </a:solidFill>
                <a:latin typeface="Segoe UI"/>
              </a:defRPr>
            </a:pPr>
            <a:r>
              <a:t>BLASTMAP UNDERGROUND</a:t>
            </a:r>
          </a:p>
          <a:p>
            <a:pPr>
              <a:defRPr sz="1800">
                <a:solidFill>
                  <a:srgbClr val="141414"/>
                </a:solidFill>
                <a:latin typeface="Segoe UI"/>
              </a:defRPr>
            </a:pPr>
            <a:r>
              <a:t>Complete Underground Drill &amp; Blast Design Solution</a:t>
            </a:r>
          </a:p>
        </p:txBody>
      </p:sp>
      <p:sp>
        <p:nvSpPr>
          <p:cNvPr id="4" name="Rectangle 3"/>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BME Presentation — www.bme.co.za</a:t>
            </a:r>
            <a:r>
              <a:rPr sz="900">
                <a:solidFill>
                  <a:srgbClr val="BF0000"/>
                </a:solidFill>
              </a:rPr>
              <a:t>     www.bme.co.za</a:t>
            </a:r>
          </a:p>
        </p:txBody>
      </p:sp>
      <p:sp>
        <p:nvSpPr>
          <p:cNvPr id="6" name="TextBox 5"/>
          <p:cNvSpPr txBox="1"/>
          <p:nvPr/>
        </p:nvSpPr>
        <p:spPr>
          <a:xfrm>
            <a:off x="548640" y="4023360"/>
            <a:ext cx="10972800" cy="914400"/>
          </a:xfrm>
          <a:prstGeom prst="rect">
            <a:avLst/>
          </a:prstGeom>
          <a:noFill/>
        </p:spPr>
        <p:txBody>
          <a:bodyPr wrap="square">
            <a:spAutoFit/>
          </a:bodyPr>
          <a:lstStyle/>
          <a:p>
            <a:pPr>
              <a:defRPr sz="2000" b="1">
                <a:solidFill>
                  <a:srgbClr val="BF0000"/>
                </a:solidFill>
              </a:defRPr>
            </a:pPr>
            <a:r>
              <a:t>Design Smarter. Blast Better. Deliver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UNDERGROUND BLAST DESIGN, REIMAGINED</a:t>
            </a:r>
          </a:p>
        </p:txBody>
      </p:sp>
      <p:sp>
        <p:nvSpPr>
          <p:cNvPr id="5" name="Rounded Rectangle 4"/>
          <p:cNvSpPr/>
          <p:nvPr/>
        </p:nvSpPr>
        <p:spPr>
          <a:xfrm>
            <a:off x="548640" y="1828800"/>
            <a:ext cx="11064240" cy="292608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800">
                <a:solidFill>
                  <a:srgbClr val="141414"/>
                </a:solidFill>
              </a:defRPr>
            </a:pPr>
            <a:r>
              <a:t>BLASTMAP UNDERGROUND is a powerful mine planning and blast design solution built specifically for underground mining operations. From development ends and production stopes to shafts and longhole drilling, BLASTMAP UNDERGROUND provides the tools engineers need to design, analyse, and optimize every blast.</a:t>
            </a:r>
          </a:p>
        </p:txBody>
      </p:sp>
      <p:sp>
        <p:nvSpPr>
          <p:cNvPr id="6" name="Rectangle 5"/>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  |  Member of the Omnia Group</a:t>
            </a:r>
            <a:r>
              <a:rPr sz="900">
                <a:solidFill>
                  <a:srgbClr val="BF0000"/>
                </a:solidFill>
              </a:rPr>
              <a:t>     www.bme.co.za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TUNNEL SHAPE DESIGNER</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Quickly create and customize tunnel profiles to match your mine's specific development requirements. Design accurate tunnel geometries with confidence and ensure consistent blast layouts throughout your operation.</a:t>
            </a:r>
          </a:p>
        </p:txBody>
      </p:sp>
      <p:pic>
        <p:nvPicPr>
          <p:cNvPr id="6" name="Picture 5" descr="brochure_img_11.png"/>
          <p:cNvPicPr>
            <a:picLocks noChangeAspect="1"/>
          </p:cNvPicPr>
          <p:nvPr/>
        </p:nvPicPr>
        <p:blipFill>
          <a:blip r:embed="rId3"/>
          <a:stretch>
            <a:fillRect/>
          </a:stretch>
        </p:blipFill>
        <p:spPr>
          <a:xfrm>
            <a:off x="7589520" y="1920240"/>
            <a:ext cx="4023360" cy="2813488"/>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REUSABLE CUT DESIGNER</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Save time and standardize designs with the Cut Designer. Create, store, and reuse proven cut patterns, allowing engineers to apply best-practice designs across multiple headings and projects.</a:t>
            </a:r>
          </a:p>
        </p:txBody>
      </p:sp>
      <p:pic>
        <p:nvPicPr>
          <p:cNvPr id="6" name="Picture 5" descr="brochure_img_12.png"/>
          <p:cNvPicPr>
            <a:picLocks noChangeAspect="1"/>
          </p:cNvPicPr>
          <p:nvPr/>
        </p:nvPicPr>
        <p:blipFill>
          <a:blip r:embed="rId3"/>
          <a:stretch>
            <a:fillRect/>
          </a:stretch>
        </p:blipFill>
        <p:spPr>
          <a:xfrm>
            <a:off x="7589520" y="1920240"/>
            <a:ext cx="4023360" cy="2064122"/>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728655" cy="1097280"/>
          </a:xfrm>
          <a:prstGeom prst="rect">
            <a:avLst/>
          </a:prstGeom>
          <a:noFill/>
        </p:spPr>
        <p:txBody>
          <a:bodyPr wrap="none">
            <a:spAutoFit/>
          </a:bodyPr>
          <a:lstStyle/>
          <a:p>
            <a:pPr>
              <a:defRPr sz="8000" b="1">
                <a:solidFill>
                  <a:srgbClr val="FFFFFF"/>
                </a:solidFill>
                <a:latin typeface="Segoe UI"/>
              </a:defRPr>
            </a:pPr>
            <a:r>
              <a:t>Shaft &amp; Ring Design</a:t>
            </a:r>
          </a:p>
        </p:txBody>
      </p:sp>
      <p:sp>
        <p:nvSpPr>
          <p:cNvPr id="4" name="TextBox 3"/>
          <p:cNvSpPr txBox="1"/>
          <p:nvPr/>
        </p:nvSpPr>
        <p:spPr>
          <a:xfrm>
            <a:off x="731520" y="3291840"/>
            <a:ext cx="10728655" cy="1371600"/>
          </a:xfrm>
          <a:prstGeom prst="rect">
            <a:avLst/>
          </a:prstGeom>
          <a:noFill/>
        </p:spPr>
        <p:txBody>
          <a:bodyPr wrap="none">
            <a:spAutoFit/>
          </a:bodyPr>
          <a:lstStyle/>
          <a:p>
            <a:pPr>
              <a:defRPr sz="3400" b="1">
                <a:solidFill>
                  <a:srgbClr val="FFFFFF"/>
                </a:solidFill>
                <a:latin typeface="Segoe UI"/>
              </a:defRPr>
            </a:pPr>
            <a:r>
              <a:t>Built for underground geometry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SHAFT DESIGN WITH RINGS</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Design shaft blasting patterns efficiently using ring-based layouts. Generate accurate shaft blast designs that improve planning consistency and support safe, productive operations.</a:t>
            </a:r>
          </a:p>
        </p:txBody>
      </p:sp>
      <p:pic>
        <p:nvPicPr>
          <p:cNvPr id="6" name="Picture 5" descr="brochure_img_5.png"/>
          <p:cNvPicPr>
            <a:picLocks noChangeAspect="1"/>
          </p:cNvPicPr>
          <p:nvPr/>
        </p:nvPicPr>
        <p:blipFill>
          <a:blip r:embed="rId3"/>
          <a:stretch>
            <a:fillRect/>
          </a:stretch>
        </p:blipFill>
        <p:spPr>
          <a:xfrm>
            <a:off x="7589520" y="1920240"/>
            <a:ext cx="4023360" cy="1947398"/>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UPHOLE RING DESIGN</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Develop and optimize uphole ring patterns for production blasting. Easily manage drilling parameters and ring layouts to maximize blast performance and ore recovery.</a:t>
            </a:r>
          </a:p>
        </p:txBody>
      </p:sp>
      <p:pic>
        <p:nvPicPr>
          <p:cNvPr id="6" name="Picture 5" descr="brochure_img_9.png"/>
          <p:cNvPicPr>
            <a:picLocks noChangeAspect="1"/>
          </p:cNvPicPr>
          <p:nvPr/>
        </p:nvPicPr>
        <p:blipFill>
          <a:blip r:embed="rId3"/>
          <a:stretch>
            <a:fillRect/>
          </a:stretch>
        </p:blipFill>
        <p:spPr>
          <a:xfrm>
            <a:off x="7589520" y="1920240"/>
            <a:ext cx="4023360" cy="3119590"/>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728655" cy="1097280"/>
          </a:xfrm>
          <a:prstGeom prst="rect">
            <a:avLst/>
          </a:prstGeom>
          <a:noFill/>
        </p:spPr>
        <p:txBody>
          <a:bodyPr wrap="none">
            <a:spAutoFit/>
          </a:bodyPr>
          <a:lstStyle/>
          <a:p>
            <a:pPr>
              <a:defRPr sz="8000" b="1">
                <a:solidFill>
                  <a:srgbClr val="FFFFFF"/>
                </a:solidFill>
                <a:latin typeface="Segoe UI"/>
              </a:defRPr>
            </a:pPr>
            <a:r>
              <a:t>Powerful Reporting</a:t>
            </a:r>
          </a:p>
        </p:txBody>
      </p:sp>
      <p:sp>
        <p:nvSpPr>
          <p:cNvPr id="4" name="TextBox 3"/>
          <p:cNvSpPr txBox="1"/>
          <p:nvPr/>
        </p:nvSpPr>
        <p:spPr>
          <a:xfrm>
            <a:off x="731520" y="3291840"/>
            <a:ext cx="10728655" cy="1371600"/>
          </a:xfrm>
          <a:prstGeom prst="rect">
            <a:avLst/>
          </a:prstGeom>
          <a:noFill/>
        </p:spPr>
        <p:txBody>
          <a:bodyPr wrap="none">
            <a:spAutoFit/>
          </a:bodyPr>
          <a:lstStyle/>
          <a:p>
            <a:pPr>
              <a:defRPr sz="3400" b="1">
                <a:solidFill>
                  <a:srgbClr val="FFFFFF"/>
                </a:solidFill>
                <a:latin typeface="Segoe UI"/>
              </a:defRPr>
            </a:pPr>
            <a:r>
              <a:t>Professional output for every blast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TECHNICAL REPORTS</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Generate comprehensive technical reports containing detailed blast design information, drilling parameters, and engineering data for review and auditing purposes.</a:t>
            </a:r>
          </a:p>
        </p:txBody>
      </p:sp>
      <p:pic>
        <p:nvPicPr>
          <p:cNvPr id="6" name="Picture 5" descr="brochure_img_8.png"/>
          <p:cNvPicPr>
            <a:picLocks noChangeAspect="1"/>
          </p:cNvPicPr>
          <p:nvPr/>
        </p:nvPicPr>
        <p:blipFill>
          <a:blip r:embed="rId3"/>
          <a:stretch>
            <a:fillRect/>
          </a:stretch>
        </p:blipFill>
        <p:spPr>
          <a:xfrm>
            <a:off x="7589520" y="1920240"/>
            <a:ext cx="2477256" cy="3840480"/>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WORKING PLAN REPORTS</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Produce clear, practical working plans for field crews, ensuring accurate communication of blast instructions and improving execution underground.</a:t>
            </a:r>
          </a:p>
        </p:txBody>
      </p:sp>
      <p:pic>
        <p:nvPicPr>
          <p:cNvPr id="6" name="Picture 5" descr="brochure_img_7.png"/>
          <p:cNvPicPr>
            <a:picLocks noChangeAspect="1"/>
          </p:cNvPicPr>
          <p:nvPr/>
        </p:nvPicPr>
        <p:blipFill>
          <a:blip r:embed="rId3"/>
          <a:stretch>
            <a:fillRect/>
          </a:stretch>
        </p:blipFill>
        <p:spPr>
          <a:xfrm>
            <a:off x="7589520" y="1920240"/>
            <a:ext cx="4023360" cy="3065939"/>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728655" cy="1097280"/>
          </a:xfrm>
          <a:prstGeom prst="rect">
            <a:avLst/>
          </a:prstGeom>
          <a:noFill/>
        </p:spPr>
        <p:txBody>
          <a:bodyPr wrap="none">
            <a:spAutoFit/>
          </a:bodyPr>
          <a:lstStyle/>
          <a:p>
            <a:pPr>
              <a:defRPr sz="8000" b="1">
                <a:solidFill>
                  <a:srgbClr val="FFFFFF"/>
                </a:solidFill>
                <a:latin typeface="Segoe UI"/>
              </a:defRPr>
            </a:pPr>
            <a:r>
              <a:t>Advanced Blast Analysis</a:t>
            </a:r>
          </a:p>
        </p:txBody>
      </p:sp>
      <p:sp>
        <p:nvSpPr>
          <p:cNvPr id="4" name="TextBox 3"/>
          <p:cNvSpPr txBox="1"/>
          <p:nvPr/>
        </p:nvSpPr>
        <p:spPr>
          <a:xfrm>
            <a:off x="731520" y="3291840"/>
            <a:ext cx="10728655" cy="1371600"/>
          </a:xfrm>
          <a:prstGeom prst="rect">
            <a:avLst/>
          </a:prstGeom>
          <a:noFill/>
        </p:spPr>
        <p:txBody>
          <a:bodyPr wrap="none">
            <a:spAutoFit/>
          </a:bodyPr>
          <a:lstStyle/>
          <a:p>
            <a:pPr>
              <a:defRPr sz="3400" b="1">
                <a:solidFill>
                  <a:srgbClr val="FFFFFF"/>
                </a:solidFill>
                <a:latin typeface="Segoe UI"/>
              </a:defRPr>
            </a:pPr>
            <a:r>
              <a:t>Predict before you fire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VIBRATION PREDICTION MODEL</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Predict blast-induced ground vibrations before firing. Evaluate potential impacts and make informed design adjustments to help maintain compliance and reduce operational risk.</a:t>
            </a:r>
          </a:p>
        </p:txBody>
      </p:sp>
      <p:pic>
        <p:nvPicPr>
          <p:cNvPr id="6" name="Picture 5" descr="brochure_img_2.png"/>
          <p:cNvPicPr>
            <a:picLocks noChangeAspect="1"/>
          </p:cNvPicPr>
          <p:nvPr/>
        </p:nvPicPr>
        <p:blipFill>
          <a:blip r:embed="rId3"/>
          <a:stretch>
            <a:fillRect/>
          </a:stretch>
        </p:blipFill>
        <p:spPr>
          <a:xfrm>
            <a:off x="7589520" y="1920240"/>
            <a:ext cx="4023360" cy="2779968"/>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FRAGMENTATION PREDICTION MODEL</a:t>
            </a:r>
          </a:p>
        </p:txBody>
      </p:sp>
      <p:sp>
        <p:nvSpPr>
          <p:cNvPr id="5" name="Rounded Rectangle 4"/>
          <p:cNvSpPr/>
          <p:nvPr/>
        </p:nvSpPr>
        <p:spPr>
          <a:xfrm>
            <a:off x="548640" y="1828800"/>
            <a:ext cx="6766560" cy="402336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600">
                <a:solidFill>
                  <a:srgbClr val="141414"/>
                </a:solidFill>
              </a:defRPr>
            </a:pPr>
            <a:r>
              <a:t>Estimate expected rock fragmentation outcomes and optimize blast designs to improve downstream performance, material handling, and overall productivity.</a:t>
            </a:r>
          </a:p>
        </p:txBody>
      </p:sp>
      <p:pic>
        <p:nvPicPr>
          <p:cNvPr id="6" name="Picture 5" descr="brochure_img_3.png"/>
          <p:cNvPicPr>
            <a:picLocks noChangeAspect="1"/>
          </p:cNvPicPr>
          <p:nvPr/>
        </p:nvPicPr>
        <p:blipFill>
          <a:blip r:embed="rId3"/>
          <a:stretch>
            <a:fillRect/>
          </a:stretch>
        </p:blipFill>
        <p:spPr>
          <a:xfrm>
            <a:off x="7589520" y="1920240"/>
            <a:ext cx="4023360" cy="2126447"/>
          </a:xfrm>
          <a:prstGeom prst="rect">
            <a:avLst/>
          </a:prstGeom>
        </p:spPr>
      </p:pic>
      <p:sp>
        <p:nvSpPr>
          <p:cNvPr id="7" name="Rectangle 6"/>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WHY CHOOSE BLASTMAP UNDERGROUND?</a:t>
            </a:r>
          </a:p>
        </p:txBody>
      </p:sp>
      <p:sp>
        <p:nvSpPr>
          <p:cNvPr id="5" name="TextBox 4"/>
          <p:cNvSpPr txBox="1"/>
          <p:nvPr/>
        </p:nvSpPr>
        <p:spPr>
          <a:xfrm>
            <a:off x="731520" y="1828800"/>
            <a:ext cx="10789920" cy="4023360"/>
          </a:xfrm>
          <a:prstGeom prst="rect">
            <a:avLst/>
          </a:prstGeom>
          <a:noFill/>
        </p:spPr>
        <p:txBody>
          <a:bodyPr wrap="square">
            <a:spAutoFit/>
          </a:bodyPr>
          <a:lstStyle/>
          <a:p>
            <a:pPr>
              <a:defRPr sz="1600">
                <a:solidFill>
                  <a:srgbClr val="141414"/>
                </a:solidFill>
                <a:latin typeface="Segoe UI"/>
              </a:defRPr>
              <a:buFont typeface="Arial"/>
              <a:spcAft>
                <a:spcPts val="600"/>
              </a:spcAft>
              <a:buClr>
                <a:srgbClr val="BF0000"/>
              </a:buClr>
              <a:buChar char="▪"/>
            </a:pPr>
            <a:r>
              <a:t>Faster blast design workflows</a:t>
            </a:r>
          </a:p>
          <a:p>
            <a:pPr>
              <a:defRPr sz="1600">
                <a:solidFill>
                  <a:srgbClr val="141414"/>
                </a:solidFill>
                <a:latin typeface="Segoe UI"/>
              </a:defRPr>
              <a:buFont typeface="Arial"/>
              <a:spcAft>
                <a:spcPts val="600"/>
              </a:spcAft>
              <a:buClr>
                <a:srgbClr val="BF0000"/>
              </a:buClr>
              <a:buChar char="▪"/>
            </a:pPr>
            <a:r>
              <a:t>Standardized and reusable design templates</a:t>
            </a:r>
          </a:p>
          <a:p>
            <a:pPr>
              <a:defRPr sz="1600">
                <a:solidFill>
                  <a:srgbClr val="141414"/>
                </a:solidFill>
                <a:latin typeface="Segoe UI"/>
              </a:defRPr>
              <a:buFont typeface="Arial"/>
              <a:spcAft>
                <a:spcPts val="600"/>
              </a:spcAft>
              <a:buClr>
                <a:srgbClr val="BF0000"/>
              </a:buClr>
              <a:buChar char="▪"/>
            </a:pPr>
            <a:r>
              <a:t>Improved blast quality and consistency</a:t>
            </a:r>
          </a:p>
          <a:p>
            <a:pPr>
              <a:defRPr sz="1600">
                <a:solidFill>
                  <a:srgbClr val="141414"/>
                </a:solidFill>
                <a:latin typeface="Segoe UI"/>
              </a:defRPr>
              <a:buFont typeface="Arial"/>
              <a:spcAft>
                <a:spcPts val="600"/>
              </a:spcAft>
              <a:buClr>
                <a:srgbClr val="BF0000"/>
              </a:buClr>
              <a:buChar char="▪"/>
            </a:pPr>
            <a:r>
              <a:t>Advanced predictive analysis tools</a:t>
            </a:r>
          </a:p>
          <a:p>
            <a:pPr>
              <a:defRPr sz="1600">
                <a:solidFill>
                  <a:srgbClr val="141414"/>
                </a:solidFill>
                <a:latin typeface="Segoe UI"/>
              </a:defRPr>
              <a:buFont typeface="Arial"/>
              <a:spcAft>
                <a:spcPts val="600"/>
              </a:spcAft>
              <a:buClr>
                <a:srgbClr val="BF0000"/>
              </a:buClr>
              <a:buChar char="▪"/>
            </a:pPr>
            <a:r>
              <a:t>Comprehensive technical and operational reporting</a:t>
            </a:r>
          </a:p>
          <a:p>
            <a:pPr>
              <a:defRPr sz="1600">
                <a:solidFill>
                  <a:srgbClr val="141414"/>
                </a:solidFill>
                <a:latin typeface="Segoe UI"/>
              </a:defRPr>
              <a:buFont typeface="Arial"/>
              <a:spcAft>
                <a:spcPts val="600"/>
              </a:spcAft>
              <a:buClr>
                <a:srgbClr val="BF0000"/>
              </a:buClr>
              <a:buChar char="▪"/>
            </a:pPr>
            <a:r>
              <a:t>Designed specifically for underground mining environments</a:t>
            </a:r>
          </a:p>
        </p:txBody>
      </p:sp>
      <p:sp>
        <p:nvSpPr>
          <p:cNvPr id="6" name="Rectangle 5"/>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a:t>
            </a:r>
            <a:r>
              <a:rPr sz="900">
                <a:solidFill>
                  <a:srgbClr val="BF0000"/>
                </a:solidFill>
              </a:rPr>
              <a:t>     www.bme.co.za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me-logo-charcoal-1200.png"/>
          <p:cNvPicPr>
            <a:picLocks noChangeAspect="1"/>
          </p:cNvPicPr>
          <p:nvPr/>
        </p:nvPicPr>
        <p:blipFill>
          <a:blip r:embed="rId2"/>
          <a:stretch>
            <a:fillRect/>
          </a:stretch>
        </p:blipFill>
        <p:spPr>
          <a:xfrm>
            <a:off x="548640" y="320040"/>
            <a:ext cx="1728247" cy="502920"/>
          </a:xfrm>
          <a:prstGeom prst="rect">
            <a:avLst/>
          </a:prstGeom>
        </p:spPr>
      </p:pic>
      <p:sp>
        <p:nvSpPr>
          <p:cNvPr id="3" name="Rectangle 2"/>
          <p:cNvSpPr/>
          <p:nvPr/>
        </p:nvSpPr>
        <p:spPr>
          <a:xfrm>
            <a:off x="548640" y="1051560"/>
            <a:ext cx="109728" cy="50292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51560"/>
            <a:ext cx="10637215" cy="548640"/>
          </a:xfrm>
          <a:prstGeom prst="rect">
            <a:avLst/>
          </a:prstGeom>
          <a:noFill/>
        </p:spPr>
        <p:txBody>
          <a:bodyPr wrap="square">
            <a:spAutoFit/>
          </a:bodyPr>
          <a:lstStyle/>
          <a:p>
            <a:pPr>
              <a:defRPr sz="2600" b="1">
                <a:solidFill>
                  <a:srgbClr val="BF0000"/>
                </a:solidFill>
                <a:latin typeface="Segoe UI"/>
              </a:defRPr>
            </a:pPr>
            <a:r>
              <a:t>TRANSFORM YOUR UNDERGROUND BLAST PLANNING</a:t>
            </a:r>
          </a:p>
        </p:txBody>
      </p:sp>
      <p:sp>
        <p:nvSpPr>
          <p:cNvPr id="5" name="Rounded Rectangle 4"/>
          <p:cNvSpPr/>
          <p:nvPr/>
        </p:nvSpPr>
        <p:spPr>
          <a:xfrm>
            <a:off x="548640" y="1828800"/>
            <a:ext cx="11064240" cy="2926080"/>
          </a:xfrm>
          <a:prstGeom prst="roundRect">
            <a:avLst/>
          </a:prstGeom>
          <a:solidFill>
            <a:srgbClr val="F8F8F8"/>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defRPr sz="1800">
                <a:solidFill>
                  <a:srgbClr val="141414"/>
                </a:solidFill>
              </a:defRPr>
            </a:pPr>
            <a:r>
              <a:t>BLASTMAP UNDERGROUND combines powerful design tools, advanced analysis capabilities, and professional reporting into a single integrated platform—helping mining operations achieve safer, more efficient, and more predictable blasting results.</a:t>
            </a:r>
          </a:p>
        </p:txBody>
      </p:sp>
      <p:sp>
        <p:nvSpPr>
          <p:cNvPr id="6" name="Rectangle 5"/>
          <p:cNvSpPr/>
          <p:nvPr/>
        </p:nvSpPr>
        <p:spPr>
          <a:xfrm>
            <a:off x="548640" y="6400800"/>
            <a:ext cx="11094415" cy="19050"/>
          </a:xfrm>
          <a:prstGeom prst="rect">
            <a:avLst/>
          </a:prstGeom>
          <a:solidFill>
            <a:srgbClr val="B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46520"/>
            <a:ext cx="11094415" cy="320040"/>
          </a:xfrm>
          <a:prstGeom prst="rect">
            <a:avLst/>
          </a:prstGeom>
          <a:noFill/>
        </p:spPr>
        <p:txBody>
          <a:bodyPr wrap="none" lIns="0" rIns="0">
            <a:spAutoFit/>
          </a:bodyPr>
          <a:lstStyle/>
          <a:p>
            <a:pPr algn="l">
              <a:defRPr sz="900">
                <a:solidFill>
                  <a:srgbClr val="888888"/>
                </a:solidFill>
                <a:latin typeface="Segoe UI"/>
              </a:defRPr>
            </a:pPr>
            <a:r>
              <a:t>BLASTMAP UNDERGROUND  |  Member of the Omnia Group</a:t>
            </a:r>
            <a:r>
              <a:rPr sz="900">
                <a:solidFill>
                  <a:srgbClr val="BF0000"/>
                </a:solidFill>
              </a:rPr>
              <a:t>     www.bme.co.za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